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결론 한 줄: 네이버 안은 이미 잘 되고 있다. 비어 있는 곳은 네이버 밖이다. 3개월 안에 채우고 숫자로 보인다.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deckqa/img/storefront_clea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F8F">
              <a:alpha val="72000"/>
            </a:srgbClr>
          </a:solidFill>
          <a:ln w="12700">
            <a:solidFill>
              <a:srgbClr val="1C1F8F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4864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SYDNEY YOGURT LAB  ×  검색·AI 노출 제안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00200"/>
            <a:ext cx="731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밖에서도</a:t>
            </a:r>
            <a:endParaRPr lang="en-US" sz="46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찾아오게 만드는</a:t>
            </a:r>
            <a:endParaRPr lang="en-US" sz="46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3개월</a:t>
            </a:r>
            <a:endParaRPr lang="en-US" sz="4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343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8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시드니요거랩 대표님께  ·  2026. 09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—  결론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4206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안은</a:t>
            </a:r>
            <a:endParaRPr lang="en-US" sz="3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 잘 되고 있습니다.</a:t>
            </a:r>
            <a:endParaRPr lang="en-US" sz="3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비어 있는 곳은</a:t>
            </a:r>
            <a:endParaRPr lang="en-US" sz="3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밖입니다.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120640" y="9144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2B70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577840" y="88696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5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 되고 있는 것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577840" y="1216152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플레이스 리뷰 184건, 블로그 리뷰 30건, 구글 평점 5.0. 오픈 100일 매장으로는 높은 수치입니다. 손님이 "맛있다, 구성이 알차다, 종류가 다양하다"고 씁니다.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120640" y="2194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2B70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577840" y="216712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5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비어 있는 것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577840" y="2496312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소유 웹페이지가 없습니다. 구글·빙·ChatGPT·Perplexity가 읽을 원본이 0이고, "Yogurt Lab"을 물으면 미국 프랜차이즈가 나옵니다.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120640" y="34747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2B70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577840" y="344728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5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577840" y="3776472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1개월차 원본 만들기, 2개월차 유입 만들기, 3개월차 측정과 조정. 14일마다 같은 지표를 다시 재서 전후 숫자로 보고합니다.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046720" y="46863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200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—  현황  ·  2026. 09. 06 기준, 정식 오픈 100일차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587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5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인스타 팔로워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약 6명 순증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423160" y="10515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184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2423160" y="21031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5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플레이스 방문자 리뷰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423160" y="23774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약 1.8건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297680" y="10515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4297680" y="21031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5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플레이스 블로그 리뷰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4297680" y="23774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제목에 "광안리 디저트"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172200" y="10515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5.0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6172200" y="21031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5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 평점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3774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 23, 영문 표기 등록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3017520"/>
            <a:ext cx="8046720" cy="1371600"/>
          </a:xfrm>
          <a:prstGeom prst="rect">
            <a:avLst/>
          </a:prstGeom>
          <a:solidFill>
            <a:srgbClr val="1C1F8F"/>
          </a:solidFill>
          <a:ln w="12700">
            <a:solidFill>
              <a:srgbClr val="1C1F8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68680" y="3127248"/>
            <a:ext cx="1280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2B70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en-US" sz="64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3246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소유 웹페이지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2011680" y="361188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D9D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안의 숫자는 매장 실력으로 이미 만들어졌습니다. 이 칸이 이번 제안의 대상입니다. AI와 구글이 읽을 원본이 아직 없습니다.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046720" y="46863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200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deckqa/img/cup_cho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39319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80560" y="4114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—  발견 경로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4480560" y="86868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지나가다 들르는 매장이 아니라,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검색해서 찾아오는 매장입니다.</a:t>
            </a:r>
            <a:endParaRPr lang="en-US" sz="1900" dirty="0"/>
          </a:p>
        </p:txBody>
      </p:sp>
      <p:sp>
        <p:nvSpPr>
          <p:cNvPr id="5" name="Text 2"/>
          <p:cNvSpPr txBox="1"/>
          <p:nvPr/>
        </p:nvSpPr>
        <p:spPr>
          <a:xfrm>
            <a:off x="4480560" y="182880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광안역 5번 출구 457m, 해변 안쪽 골목. 리뷰 184건은 이미 그렇게 찾아온 결과입니다.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4480560" y="2514600"/>
            <a:ext cx="4114800" cy="0"/>
          </a:xfrm>
          <a:prstGeom prst="line">
            <a:avLst/>
          </a:prstGeom>
          <a:noFill/>
          <a:ln w="9525">
            <a:solidFill>
              <a:srgbClr val="D8D6C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480560" y="2670048"/>
            <a:ext cx="128016" cy="128016"/>
          </a:xfrm>
          <a:prstGeom prst="ellipse">
            <a:avLst/>
          </a:prstGeom>
          <a:solidFill>
            <a:srgbClr val="1C1F8F"/>
          </a:solidFill>
          <a:ln w="12700">
            <a:solidFill>
              <a:srgbClr val="1C1F8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754880" y="25877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5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검색·지도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플레이스·블로그·리뷰 작동 중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480560" y="3063240"/>
            <a:ext cx="4114800" cy="0"/>
          </a:xfrm>
          <a:prstGeom prst="line">
            <a:avLst/>
          </a:prstGeom>
          <a:noFill/>
          <a:ln w="9525">
            <a:solidFill>
              <a:srgbClr val="D8D6C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80560" y="3218688"/>
            <a:ext cx="128016" cy="128016"/>
          </a:xfrm>
          <a:prstGeom prst="ellipse">
            <a:avLst/>
          </a:prstGeom>
          <a:solidFill>
            <a:srgbClr val="1C1F8F"/>
          </a:solidFill>
          <a:ln w="12700">
            <a:solidFill>
              <a:srgbClr val="1C1F8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54880" y="3136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5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 지도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3154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5.0, 리뷰 23, 영문 표기 완료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480560" y="3611880"/>
            <a:ext cx="4114800" cy="0"/>
          </a:xfrm>
          <a:prstGeom prst="line">
            <a:avLst/>
          </a:prstGeom>
          <a:noFill/>
          <a:ln w="9525">
            <a:solidFill>
              <a:srgbClr val="D8D6C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480560" y="3767328"/>
            <a:ext cx="128016" cy="128016"/>
          </a:xfrm>
          <a:prstGeom prst="ellipse">
            <a:avLst/>
          </a:prstGeom>
          <a:solidFill>
            <a:srgbClr val="1C1F8F"/>
          </a:solidFill>
          <a:ln w="12700">
            <a:solidFill>
              <a:srgbClr val="1C1F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4880" y="36850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5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인스타그램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6400800" y="3703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팔로워 587, 콘텐츠 축 정리됨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4480560" y="4160520"/>
            <a:ext cx="4114800" cy="0"/>
          </a:xfrm>
          <a:prstGeom prst="line">
            <a:avLst/>
          </a:prstGeom>
          <a:noFill/>
          <a:ln w="9525">
            <a:solidFill>
              <a:srgbClr val="D8D6C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480560" y="4315968"/>
            <a:ext cx="128016" cy="128016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754880" y="42336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5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웹 · AI 답변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6400800" y="4251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페이지 없음, 블로그가 대신 답함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46863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200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1F8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B8BD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—  왜 네이버 밖인가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종류의 손님은</a:t>
            </a:r>
            <a:endParaRPr lang="en-US" sz="3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네이버를 쓰지 않습니다.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B70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88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외국인 관광객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54680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D9D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광안리는 외국인 방문이 늘고 있습니다. 이들은 구글 지도와 트립어드바이저로 찾습니다. 매장 언어가 이미 영어라 준비가 절반은 되어 있습니다.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246120" y="2331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B70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3246120" y="2788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묻는 손님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246120" y="3154680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D9D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"광안리 요거트 아이스크림 추천"을 ChatGPT·Perplexity·구글 AI에 묻습니다. 이들은 인스타(로그인 벽)와 플레이스(네이버 안)를 읽지 못하고, 열린 웹의 HTML만 인용합니다.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943600" y="2331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B70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2788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이름이 겹치는 문제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3154680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D9D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"Yogurt Lab"은 미국 미네소타 프랜차이즈와 멜버른 매장이 먼저 쓰고 있습니다. 공식 설명 페이지가 없으면 AI는 시드니요거랩을 그들과 구분하지 못합니다.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046720" y="46863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200" kern="0" dirty="0">
                <a:solidFill>
                  <a:srgbClr val="B8BD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—  경쟁 구도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카테고리 관심은 받아 오고,</a:t>
            </a:r>
            <a:endParaRPr lang="en-US" sz="2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승부는 요아정이 못 하는 것으로.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116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요아정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2316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—"/>
            </a:pPr>
            <a:r>
              <a:rPr lang="en-US" sz="10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400개점 이상. 카테고리를 만든 브랜드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—"/>
            </a:pPr>
            <a:r>
              <a:rPr lang="en-US" sz="10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배달에서 출발, 카페형 전환 중. 반값 이벤트로 가격 경쟁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—"/>
            </a:pPr>
            <a:r>
              <a:rPr lang="en-US" sz="10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점원이 만들어 주고 토핑마다 추가 요금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—"/>
            </a:pPr>
            <a:r>
              <a:rPr lang="en-US" sz="10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SNS 인증 문화에 기댄 성장. 업계에서 정점 논쟁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20116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시드니요거랩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114800" y="242316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—"/>
            </a:pPr>
            <a:r>
              <a:rPr lang="en-US" sz="1050" dirty="0">
                <a:solidFill>
                  <a:srgbClr val="1415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손님이 직접 담고 무게로 계산. 100g 4,500원, 컵 한 종류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—"/>
            </a:pPr>
            <a:r>
              <a:rPr lang="en-US" sz="1050" dirty="0">
                <a:solidFill>
                  <a:srgbClr val="1415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요거트 6종 × 토핑 30종 이상. 같은 컵이 두 번 나오지 않음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—"/>
            </a:pPr>
            <a:r>
              <a:rPr lang="en-US" sz="1050" dirty="0">
                <a:solidFill>
                  <a:srgbClr val="1415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파는 것은 상품이 아니라 체험. 인증 소재가 손님 손에서 매번 생김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—"/>
            </a:pPr>
            <a:r>
              <a:rPr lang="en-US" sz="1050" dirty="0">
                <a:solidFill>
                  <a:srgbClr val="1415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대표의 시드니 근무(2023~2025). "호주 방식"에 근거가 있음</a:t>
            </a:r>
            <a:endParaRPr lang="en-US" sz="1050" dirty="0"/>
          </a:p>
        </p:txBody>
      </p:sp>
      <p:pic>
        <p:nvPicPr>
          <p:cNvPr id="8" name="Image 0" descr="/root/deckqa/img/menu_ti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69480" y="2011680"/>
            <a:ext cx="1325880" cy="13258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4434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셀프서브 매장 존재 여부는 별도 조사 예정. 호주 Yo-Chi는 국내 진출이 확인되지 않음.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46863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200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 —  제안 1  ·  1개월차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만들기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sydneyyogurtlab.com 한 장으로 시작합니다.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928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B70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8745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415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 확보, 랜딩 한 장 게시. 주소·영업시간·가격·6종 메뉴·FAQ를 크롤러가 읽는 HTML로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3682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B70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5000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415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크롤러용 사실 요약(llms.txt)과 구조화 데이터. 동명 브랜드와 무관함을 명시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84378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B70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2825496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415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 서치콘솔·빙 웹마스터·네이버 서치어드바이저 등록, 사이트맵 제출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31927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B70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3300984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415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플레이스·구글·인스타·블로그의 "웹사이트" 칸에 연결. 표기를 "시드니요거랩 (Sydney Yogurt Lab, 부산 광안리)"로 통일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7947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B70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377647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415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트립어드바이저 무료 리스팅 신청, 대표자 인증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343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시안은 이미 만들어져 있습니다. 도메인만 연결하면 게시됩니다.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760720" y="0"/>
            <a:ext cx="3383280" cy="5143500"/>
          </a:xfrm>
          <a:prstGeom prst="rect">
            <a:avLst/>
          </a:prstGeom>
          <a:solidFill>
            <a:srgbClr val="1C1F8F"/>
          </a:solidFill>
          <a:ln w="12700">
            <a:solidFill>
              <a:srgbClr val="1C1F8F"/>
            </a:solidFill>
            <a:prstDash val="solid"/>
          </a:ln>
        </p:spPr>
      </p:sp>
      <p:pic>
        <p:nvPicPr>
          <p:cNvPr id="17" name="Image 0" descr="/root/deckqa/img/landing-mobile-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502920"/>
            <a:ext cx="2377440" cy="463600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deckqa/img/interior_clea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1965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21945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 —  제안 2  ·  2개월차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4231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유입 만들기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3840480" y="254203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원본이 생긴 뒤에 돈을 씁니다. 순서가 반대면 돈이 샙니다.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48640" y="3108960"/>
            <a:ext cx="1828800" cy="0"/>
          </a:xfrm>
          <a:prstGeom prst="line">
            <a:avLst/>
          </a:prstGeom>
          <a:noFill/>
          <a:ln w="12700">
            <a:solidFill>
              <a:srgbClr val="1C1F8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5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플레이스 광고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5204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"광안리 디저트·요거트" 지역 키워드로 소액 시작. 클릭당 비용과 저장·길찾기 전환을 2주마다 기록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560320" y="3108960"/>
            <a:ext cx="1828800" cy="0"/>
          </a:xfrm>
          <a:prstGeom prst="line">
            <a:avLst/>
          </a:prstGeom>
          <a:noFill/>
          <a:ln w="12700">
            <a:solidFill>
              <a:srgbClr val="1C1F8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56032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5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인스타·릴스 지역 광고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2560320" y="35204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광안리 반경 3km, 여행 관심사 타깃. 소재는 손님이 만든 컵(UGC). 랜딩과 플레이스로 연결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572000" y="3108960"/>
            <a:ext cx="1828800" cy="0"/>
          </a:xfrm>
          <a:prstGeom prst="line">
            <a:avLst/>
          </a:prstGeom>
          <a:noFill/>
          <a:ln w="12700">
            <a:solidFill>
              <a:srgbClr val="1C1F8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7200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5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크리에이터 3~5명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0" y="35204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클립·릴스. 내돈내산 표기 준수. 목표는 블로그·클립에서 랜딩으로 가는 링크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583680" y="3108960"/>
            <a:ext cx="1828800" cy="0"/>
          </a:xfrm>
          <a:prstGeom prst="line">
            <a:avLst/>
          </a:prstGeom>
          <a:noFill/>
          <a:ln w="12700">
            <a:solidFill>
              <a:srgbClr val="1C1F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5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외국인 리뷰 QR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35204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구글·트립어드바이저 영어 리뷰 요청 카드를 카운터에 비치. 영어 소개문은 구글 프로필에도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46863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200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 —  제안 3  ·  3개월차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측정과 조정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3840480" y="9144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"고쳤다"로 끝내지 않습니다. 14일마다 같은 자로 잽니다.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804672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463040"/>
                <a:gridCol w="3200400"/>
                <a:gridCol w="91440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C1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기준선 (9/6)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C1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 방법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C1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C1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5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플레이스 순위 "광안리 요거트"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미측정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5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비로그인 모바일 검색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5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5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플레이스 저장·길찾기·전화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대표님 계정 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5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스마트플레이스 통계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5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5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방문자 리뷰 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5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5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플레이스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5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5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구글 리뷰 수 · 평점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5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 · 5.0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5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비즈니스 프로필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5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5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인스타 팔로워 순증/일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5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 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5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인사이트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5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5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랜딩 노출·클릭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5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5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서치콘솔 · 서치어드바이저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5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5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답변 인용 여부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5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미인용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5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ChatGPT·Perplexity·네이버 AI 브리핑에 같은 질문 3종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5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4206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5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수치는 1차 재측정(게시 14일 후) 결과를 보고 대표님과 함께 정합니다. 효과 없는 채널은 예산을 옮깁니다.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8046720" y="46863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200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  —  3개월 로드맵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 →  유입  →  측정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8046720" cy="0"/>
          </a:xfrm>
          <a:prstGeom prst="line">
            <a:avLst/>
          </a:prstGeom>
          <a:noFill/>
          <a:ln w="12700">
            <a:solidFill>
              <a:srgbClr val="1C1F8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84632" y="1764792"/>
            <a:ext cx="128016" cy="128016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057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1개월차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331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만들기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346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—"/>
            </a:pPr>
            <a:r>
              <a:rPr lang="en-US" sz="1050" dirty="0">
                <a:solidFill>
                  <a:srgbClr val="1415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도메인·랜딩 게시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—"/>
            </a:pPr>
            <a:r>
              <a:rPr lang="en-US" sz="1050" dirty="0">
                <a:solidFill>
                  <a:srgbClr val="1415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서치콘솔·빙·서치어드바이저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—"/>
            </a:pPr>
            <a:r>
              <a:rPr lang="en-US" sz="1050" dirty="0">
                <a:solidFill>
                  <a:srgbClr val="1415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표기 통일, 트립어드바이저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—"/>
            </a:pPr>
            <a:r>
              <a:rPr lang="en-US" sz="1050" dirty="0">
                <a:solidFill>
                  <a:srgbClr val="1415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기준선 측정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182112" y="1764792"/>
            <a:ext cx="128016" cy="128016"/>
          </a:xfrm>
          <a:prstGeom prst="ellipse">
            <a:avLst/>
          </a:prstGeom>
          <a:solidFill>
            <a:srgbClr val="1C1F8F"/>
          </a:solidFill>
          <a:ln w="12700">
            <a:solidFill>
              <a:srgbClr val="1C1F8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46120" y="2057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2개월차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246120" y="2331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유입 만들기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246120" y="28346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—"/>
            </a:pPr>
            <a:r>
              <a:rPr lang="en-US" sz="1050" dirty="0">
                <a:solidFill>
                  <a:srgbClr val="1415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플레이스 광고 시작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—"/>
            </a:pPr>
            <a:r>
              <a:rPr lang="en-US" sz="1050" dirty="0">
                <a:solidFill>
                  <a:srgbClr val="1415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인스타 지역 광고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—"/>
            </a:pPr>
            <a:r>
              <a:rPr lang="en-US" sz="1050" dirty="0">
                <a:solidFill>
                  <a:srgbClr val="1415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크리에이터 3~5명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—"/>
            </a:pPr>
            <a:r>
              <a:rPr lang="en-US" sz="1050" dirty="0">
                <a:solidFill>
                  <a:srgbClr val="1415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외국인 리뷰 QR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879592" y="1764792"/>
            <a:ext cx="128016" cy="128016"/>
          </a:xfrm>
          <a:prstGeom prst="ellipse">
            <a:avLst/>
          </a:prstGeom>
          <a:solidFill>
            <a:srgbClr val="1C1F8F"/>
          </a:solidFill>
          <a:ln w="12700">
            <a:solidFill>
              <a:srgbClr val="1C1F8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0" y="2057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3개월차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2331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측정과 조정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0" y="28346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—"/>
            </a:pPr>
            <a:r>
              <a:rPr lang="en-US" sz="1050" dirty="0">
                <a:solidFill>
                  <a:srgbClr val="1415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14일 재측정 2회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—"/>
            </a:pPr>
            <a:r>
              <a:rPr lang="en-US" sz="1050" dirty="0">
                <a:solidFill>
                  <a:srgbClr val="1415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재배분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—"/>
            </a:pPr>
            <a:r>
              <a:rPr lang="en-US" sz="1050" dirty="0">
                <a:solidFill>
                  <a:srgbClr val="1415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FAQ·시즌 페이지 추가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—"/>
            </a:pPr>
            <a:r>
              <a:rPr lang="en-US" sz="1050" dirty="0">
                <a:solidFill>
                  <a:srgbClr val="1415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트립닷컴 입점 문의(12월)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046720" y="46863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200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rgbClr val="1C1F8F"/>
          </a:solidFill>
          <a:ln w="12700">
            <a:solidFill>
              <a:srgbClr val="1C1F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114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B8BD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 —  약속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772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약속하는 것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63040"/>
            <a:ext cx="3566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—"/>
            </a:pPr>
            <a:r>
              <a:rPr lang="en-US" sz="1150" dirty="0">
                <a:solidFill>
                  <a:srgbClr val="E6E8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없이 "완료"라고 말하지 않습니다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—"/>
            </a:pPr>
            <a:r>
              <a:rPr lang="en-US" sz="1150" dirty="0">
                <a:solidFill>
                  <a:srgbClr val="E6E8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14일마다 같은 지표를 전후 비교로 보고합니다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—"/>
            </a:pPr>
            <a:r>
              <a:rPr lang="en-US" sz="1150" dirty="0">
                <a:solidFill>
                  <a:srgbClr val="E6E8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페이지와 구조화 데이터에는 화면에 보이는 사실만 씁니다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—"/>
            </a:pPr>
            <a:r>
              <a:rPr lang="en-US" sz="1150" dirty="0">
                <a:solidFill>
                  <a:srgbClr val="E6E8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대표님 계정(플레이스·구글)은 권한 공유 방식으로만 다룹니다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120640" y="4114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하지 않는 것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7772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하지 않는 것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120640" y="1463040"/>
            <a:ext cx="3474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—"/>
            </a:pPr>
            <a:r>
              <a:rPr lang="en-US" sz="1150" dirty="0">
                <a:solidFill>
                  <a:srgbClr val="1415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 구매, 블로그 대량 체험단, 백링크 구매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—"/>
            </a:pPr>
            <a:r>
              <a:rPr lang="en-US" sz="1150" dirty="0">
                <a:solidFill>
                  <a:srgbClr val="1415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"순위 보장", "인용 보장" 문구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—"/>
            </a:pPr>
            <a:r>
              <a:rPr lang="en-US" sz="1150" dirty="0">
                <a:solidFill>
                  <a:srgbClr val="1415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화면과 다른 메타·구조화 데이터, 숨긴 텍스트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120640" y="35661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이유: 걸리는 것은 단기 순위가 아니라 플레이스와 도메인 전체입니다.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46863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200" kern="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deckqa/img/cup_sprinkles_clea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36576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0" y="0"/>
            <a:ext cx="5486400" cy="5143500"/>
          </a:xfrm>
          <a:prstGeom prst="rect">
            <a:avLst/>
          </a:prstGeom>
          <a:solidFill>
            <a:srgbClr val="1C1F8F"/>
          </a:solidFill>
          <a:ln w="12700">
            <a:solidFill>
              <a:srgbClr val="1C1F8F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4114800" y="4114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B8BD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 —  확인 요청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4114800" y="73152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대표님께</a:t>
            </a:r>
            <a:endParaRPr lang="en-US" sz="2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확인을 요청드립니다.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4114800" y="18928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B70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526280" y="187452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 sydneyyogurtlab.com 구매 주체 (매장 명의 권장)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114800" y="23317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B70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26280" y="231343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스마트플레이스·구글 비즈니스 프로필 관리자 권한 공유 방식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114800" y="27706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B70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526280" y="2752344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광고 예산 상한 (플레이스 + 인스타 + 크리에이터)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114800" y="320954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B70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3191256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인스타 팔로잉 0 정책 유지 여부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114800" y="364845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B70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4526280" y="3630168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시드니 근무 이력(2023~2025)을 브랜드 스토리에 공개해도 되는지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114800" y="4206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70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회신 주시면 착수일과 1차 측정일을 잡아 다시 보고드리겠습니다.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시드니요거랩 제안</dc:title>
  <dc:subject>PptxGenJS Presentation</dc:subject>
  <dc:creator>PptxGenJS</dc:creator>
  <cp:lastModifiedBy>PptxGenJS</cp:lastModifiedBy>
  <cp:revision>1</cp:revision>
  <dcterms:created xsi:type="dcterms:W3CDTF">2026-09-06T08:34:23Z</dcterms:created>
  <dcterms:modified xsi:type="dcterms:W3CDTF">2026-09-06T08:34:23Z</dcterms:modified>
</cp:coreProperties>
</file>